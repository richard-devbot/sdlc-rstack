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layfair Display Bold" charset="1" panose="00000000000000000000"/>
      <p:regular r:id="rId17"/>
    </p:embeddedFont>
    <p:embeddedFont>
      <p:font typeface="Crimson Pro Italics" charset="1" panose="00000000000000000000"/>
      <p:regular r:id="rId18"/>
    </p:embeddedFont>
    <p:embeddedFont>
      <p:font typeface="Crimson Pro" charset="1" panose="00000000000000000000"/>
      <p:regular r:id="rId19"/>
    </p:embeddedFont>
    <p:embeddedFont>
      <p:font typeface="Crimson Pro Bold" charset="1" panose="00000000000000000000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972800" cy="10287000"/>
            <a:chOff x="0" y="0"/>
            <a:chExt cx="14630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71438" cy="10287000"/>
            <a:chOff x="0" y="0"/>
            <a:chExt cx="9525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5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1364456"/>
            <a:ext cx="8686800" cy="321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9"/>
              </a:lnSpc>
            </a:pPr>
            <a:r>
              <a:rPr lang="en-US" sz="6199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RStack: The Future of Software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4807744"/>
            <a:ext cx="86868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3200" i="true">
                <a:solidFill>
                  <a:srgbClr val="121211"/>
                </a:solidFill>
                <a:latin typeface="Crimson Pro Italics"/>
                <a:ea typeface="Crimson Pro Italics"/>
                <a:cs typeface="Crimson Pro Italics"/>
                <a:sym typeface="Crimson Pro Italics"/>
              </a:rPr>
              <a:t>Building Better Software with AI Teammates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6198394"/>
            <a:ext cx="266696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3000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196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6665119"/>
            <a:ext cx="266696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500" spc="1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AI AGENTS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52862" y="6198394"/>
            <a:ext cx="266701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3000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52862" y="6665119"/>
            <a:ext cx="266701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500" spc="1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PIPELINE STAGES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62781" y="6198394"/>
            <a:ext cx="266701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3000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156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62781" y="6665119"/>
            <a:ext cx="266701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500" spc="1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SKILLS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8084344"/>
            <a:ext cx="86868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Richardson Gunde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" y="8465344"/>
            <a:ext cx="86868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Evoke Technologies | Project Proposal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29800" y="604318"/>
            <a:ext cx="8458200" cy="9682682"/>
            <a:chOff x="0" y="0"/>
            <a:chExt cx="24384000" cy="279140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84000" cy="27914039"/>
            </a:xfrm>
            <a:custGeom>
              <a:avLst/>
              <a:gdLst/>
              <a:ahLst/>
              <a:cxnLst/>
              <a:rect r="r" b="b" t="t" l="l"/>
              <a:pathLst>
                <a:path h="2791403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914039"/>
                  </a:lnTo>
                  <a:lnTo>
                    <a:pt x="0" y="27914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94" r="0" b="-49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6334" y="2343150"/>
            <a:ext cx="9271666" cy="6915150"/>
            <a:chOff x="0" y="0"/>
            <a:chExt cx="19999005" cy="14915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99006" cy="14915995"/>
            </a:xfrm>
            <a:custGeom>
              <a:avLst/>
              <a:gdLst/>
              <a:ahLst/>
              <a:cxnLst/>
              <a:rect r="r" b="b" t="t" l="l"/>
              <a:pathLst>
                <a:path h="14915995" w="19999006">
                  <a:moveTo>
                    <a:pt x="0" y="0"/>
                  </a:moveTo>
                  <a:lnTo>
                    <a:pt x="19999006" y="0"/>
                  </a:lnTo>
                  <a:lnTo>
                    <a:pt x="19999006" y="14915995"/>
                  </a:lnTo>
                  <a:lnTo>
                    <a:pt x="0" y="149159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3" t="0" r="-366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1825895"/>
            <a:ext cx="8343900" cy="2457450"/>
            <a:chOff x="0" y="0"/>
            <a:chExt cx="11125200" cy="327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25200" cy="3276600"/>
            </a:xfrm>
            <a:custGeom>
              <a:avLst/>
              <a:gdLst/>
              <a:ahLst/>
              <a:cxnLst/>
              <a:rect r="r" b="b" t="t" l="l"/>
              <a:pathLst>
                <a:path h="32766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1825895"/>
            <a:ext cx="57150" cy="2457450"/>
            <a:chOff x="0" y="0"/>
            <a:chExt cx="76200" cy="3276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3276600"/>
            </a:xfrm>
            <a:custGeom>
              <a:avLst/>
              <a:gdLst/>
              <a:ahLst/>
              <a:cxnLst/>
              <a:rect r="r" b="b" t="t" l="l"/>
              <a:pathLst>
                <a:path h="3276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71500" y="7483745"/>
            <a:ext cx="8343900" cy="2057400"/>
            <a:chOff x="0" y="0"/>
            <a:chExt cx="11125200" cy="274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25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71500" y="7483745"/>
            <a:ext cx="57150" cy="2057400"/>
            <a:chOff x="0" y="0"/>
            <a:chExt cx="76200" cy="274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71500" y="619125"/>
            <a:ext cx="17145000" cy="51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3600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Introducing RStack: Your AI-Powered SDLC Framework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2149745"/>
            <a:ext cx="76581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The AI Orchestrator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2692670"/>
            <a:ext cx="765810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 revolutionary system that uses AI to manage and execute every stage of software development, ensuring consistency and quality at every step.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1500" y="4607195"/>
            <a:ext cx="83439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Key Framework Pillars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5150120"/>
            <a:ext cx="8001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b="true" sz="2100">
                <a:solidFill>
                  <a:srgbClr val="121211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End-to-End Orchestration:</a:t>
            </a: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 From idea to deployment.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5664470"/>
            <a:ext cx="8001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b="true" sz="2100">
                <a:solidFill>
                  <a:srgbClr val="121211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AI Dream Team:</a:t>
            </a: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 196 specialist agents and 156 skills.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6178820"/>
            <a:ext cx="8001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b="true" sz="2100">
                <a:solidFill>
                  <a:srgbClr val="121211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Technical Foundation:</a:t>
            </a: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 Built on Pi SDK with Node.js runtime.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6693170"/>
            <a:ext cx="8001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b="true" sz="2100">
                <a:solidFill>
                  <a:srgbClr val="121211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Lifecycle Hooks:</a:t>
            </a: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 6 hooks for complete process control.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7807595"/>
            <a:ext cx="76581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Verified Reliability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8350520"/>
            <a:ext cx="76581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Governed by an 11-module harness and a 15-stage pipeline for enterprise-grade delivery.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7200" y="504825"/>
            <a:ext cx="17373600" cy="51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3600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Your New AI Dream Team: Managers, Builders, &amp; Checkers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7200" y="2048285"/>
            <a:ext cx="85153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196 Specialist Agents by Domain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57200" y="3340322"/>
            <a:ext cx="8515350" cy="4857750"/>
            <a:chOff x="0" y="0"/>
            <a:chExt cx="11353800" cy="6477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1353800" cy="6477000"/>
            </a:xfrm>
            <a:custGeom>
              <a:avLst/>
              <a:gdLst/>
              <a:ahLst/>
              <a:cxnLst/>
              <a:rect r="r" b="b" t="t" l="l"/>
              <a:pathLst>
                <a:path h="64770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7" r="0" b="-14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57200" y="8870975"/>
            <a:ext cx="85153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Source: RStack SDLC Repository (v1.0.2)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15450" y="1609858"/>
            <a:ext cx="8515350" cy="1714500"/>
            <a:chOff x="0" y="0"/>
            <a:chExt cx="1135380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53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15450" y="1609858"/>
            <a:ext cx="57150" cy="1714500"/>
            <a:chOff x="0" y="0"/>
            <a:chExt cx="762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44050" y="1800358"/>
            <a:ext cx="80581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Core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44050" y="2238508"/>
            <a:ext cx="80581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RStack utilizes a tripartite agent structure to ensure project alignment, technical excellence, and rigorous quality control.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86900" y="3854110"/>
            <a:ext cx="23812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Manager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86900" y="4311310"/>
            <a:ext cx="238121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3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86900" y="4797085"/>
            <a:ext cx="23812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Orchestrator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82462" y="3854110"/>
            <a:ext cx="238126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Builders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82462" y="4311310"/>
            <a:ext cx="238126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3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196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82462" y="4797085"/>
            <a:ext cx="238126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Specialists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78081" y="3854110"/>
            <a:ext cx="238126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Checkers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278081" y="4311310"/>
            <a:ext cx="238126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3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18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78081" y="4797085"/>
            <a:ext cx="238126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Validators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15450" y="5703075"/>
            <a:ext cx="85153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Specialized AI Experts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8350" y="6141225"/>
            <a:ext cx="81724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837"/>
              </a:lnSpc>
              <a:buFont typeface="Arial"/>
              <a:buChar char="•"/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The Manager: Orchestrates goals and routes work.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58350" y="6598425"/>
            <a:ext cx="81724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837"/>
              </a:lnSpc>
              <a:buFont typeface="Arial"/>
              <a:buChar char="•"/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The Builders: 49 Backend, 34 DevOps, 10 Frontend specialists.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58350" y="7055625"/>
            <a:ext cx="81724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837"/>
              </a:lnSpc>
              <a:buFont typeface="Arial"/>
              <a:buChar char="•"/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The Checkers: Independent QA and security auditors.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15450" y="7928277"/>
            <a:ext cx="8515350" cy="1714500"/>
            <a:chOff x="0" y="0"/>
            <a:chExt cx="11353800" cy="2286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53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15450" y="7928277"/>
            <a:ext cx="57150" cy="1714500"/>
            <a:chOff x="0" y="0"/>
            <a:chExt cx="76200" cy="2286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544050" y="8099727"/>
            <a:ext cx="80581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Strategic Advantage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44050" y="8556927"/>
            <a:ext cx="80581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Independent audits eliminate self-grading bias, ensuring that every deliverable meets enterprise standards.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7200" y="504825"/>
            <a:ext cx="17373600" cy="51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3600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From Idea to Reality: The Automated Workflow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7200" y="2048285"/>
            <a:ext cx="85153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15-Stage Automated SDLC Pipeline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46621" y="2295935"/>
            <a:ext cx="7858125" cy="4857750"/>
            <a:chOff x="0" y="0"/>
            <a:chExt cx="10477500" cy="6477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477500" cy="6477000"/>
            </a:xfrm>
            <a:custGeom>
              <a:avLst/>
              <a:gdLst/>
              <a:ahLst/>
              <a:cxnLst/>
              <a:rect r="r" b="b" t="t" l="l"/>
              <a:pathLst>
                <a:path h="6477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7" r="0" b="-14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18008" y="7455675"/>
            <a:ext cx="85153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Source: RStack Canonical Pipeline Architecture (Stages 00-14)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15450" y="1767021"/>
            <a:ext cx="8515350" cy="1714500"/>
            <a:chOff x="0" y="0"/>
            <a:chExt cx="1135380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53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15450" y="1767021"/>
            <a:ext cx="57150" cy="1714500"/>
            <a:chOff x="0" y="0"/>
            <a:chExt cx="762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44050" y="1957521"/>
            <a:ext cx="80581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The RStack Process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44050" y="2395671"/>
            <a:ext cx="80581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Business goals are automatically decomposed into actionable tasks, executed by specialists, and verified by independent validators.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15450" y="3996985"/>
            <a:ext cx="8515350" cy="1485900"/>
            <a:chOff x="0" y="0"/>
            <a:chExt cx="11353800" cy="198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538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484F6F">
                <a:alpha val="784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15450" y="3996985"/>
            <a:ext cx="57150" cy="1485900"/>
            <a:chOff x="0" y="0"/>
            <a:chExt cx="76200" cy="198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484F6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486900" y="4225585"/>
            <a:ext cx="214312" cy="285750"/>
            <a:chOff x="0" y="0"/>
            <a:chExt cx="285750" cy="3810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8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815512" y="4130335"/>
            <a:ext cx="254317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Discovery &amp; Planning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6900" y="4578010"/>
            <a:ext cx="81724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Agents clarify the vision, lock requirements into a brief, and generate structured plans with milestones and risk registers.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15450" y="5998350"/>
            <a:ext cx="8515350" cy="1485900"/>
            <a:chOff x="0" y="0"/>
            <a:chExt cx="11353800" cy="198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538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939CBD">
                <a:alpha val="784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15450" y="5998350"/>
            <a:ext cx="57150" cy="1485900"/>
            <a:chOff x="0" y="0"/>
            <a:chExt cx="76200" cy="198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939CB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86900" y="6226950"/>
            <a:ext cx="357188" cy="285750"/>
            <a:chOff x="0" y="0"/>
            <a:chExt cx="476250" cy="3810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00" r="0" b="-250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958388" y="6131700"/>
            <a:ext cx="271819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Execution &amp; Validation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86900" y="6579375"/>
            <a:ext cx="81724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Specialist builders write production-ready code in sandboxes, while independent validators audit every deliverable against contracts.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15450" y="7999714"/>
            <a:ext cx="8515350" cy="1485900"/>
            <a:chOff x="0" y="0"/>
            <a:chExt cx="11353800" cy="1981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538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15450" y="7999714"/>
            <a:ext cx="57150" cy="1485900"/>
            <a:chOff x="0" y="0"/>
            <a:chExt cx="76200" cy="1981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2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86900" y="8228314"/>
            <a:ext cx="285750" cy="285750"/>
            <a:chOff x="0" y="0"/>
            <a:chExt cx="381000" cy="38100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00" r="0" b="-250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886950" y="8133064"/>
            <a:ext cx="243959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Approval &amp; Delivery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86900" y="8580739"/>
            <a:ext cx="81724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Human oversight at key gates ensures alignment. Final delivery includes a full immutable evidence ledger for auditability.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4537" y="1355905"/>
            <a:ext cx="7652462" cy="8045270"/>
            <a:chOff x="0" y="0"/>
            <a:chExt cx="24384000" cy="256356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635654"/>
            </a:xfrm>
            <a:custGeom>
              <a:avLst/>
              <a:gdLst/>
              <a:ahLst/>
              <a:cxnLst/>
              <a:rect r="r" b="b" t="t" l="l"/>
              <a:pathLst>
                <a:path h="2563565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635654"/>
                  </a:lnTo>
                  <a:lnTo>
                    <a:pt x="0" y="2563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78" t="0" r="-177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15450" y="1609858"/>
            <a:ext cx="8515350" cy="1714500"/>
            <a:chOff x="0" y="0"/>
            <a:chExt cx="113538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53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15450" y="1609858"/>
            <a:ext cx="57150" cy="1714500"/>
            <a:chOff x="0" y="0"/>
            <a:chExt cx="762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15450" y="7928277"/>
            <a:ext cx="8515350" cy="1714500"/>
            <a:chOff x="0" y="0"/>
            <a:chExt cx="113538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53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15450" y="7928277"/>
            <a:ext cx="57150" cy="1714500"/>
            <a:chOff x="0" y="0"/>
            <a:chExt cx="762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57200" y="504825"/>
            <a:ext cx="17373600" cy="51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3600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Specialized AI Experts: Departmental Precision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0100" y="8766477"/>
            <a:ext cx="85153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Agent Domain Distribution (196 Total)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7200" y="9229725"/>
            <a:ext cx="85153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Source: RStack Agent Registry v1.0.2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44050" y="1800358"/>
            <a:ext cx="80581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Domain Mastery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44050" y="2238508"/>
            <a:ext cx="80581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RStack deploys 196 highly specialized AI units, each a master of its specific domain, ensuring expert-level execution across the entire SDLC.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86900" y="3854110"/>
            <a:ext cx="23812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Backend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86900" y="4311310"/>
            <a:ext cx="238121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3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49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86900" y="4797085"/>
            <a:ext cx="23812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Agents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82462" y="3854110"/>
            <a:ext cx="238126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DevOps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82462" y="4311310"/>
            <a:ext cx="238126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3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34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2462" y="4797085"/>
            <a:ext cx="238126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Agents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78081" y="3854110"/>
            <a:ext cx="238126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Security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78081" y="4311310"/>
            <a:ext cx="238126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3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11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78081" y="4797085"/>
            <a:ext cx="238126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Agents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15450" y="5703075"/>
            <a:ext cx="85153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Core Agent Capabilities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58350" y="6141225"/>
            <a:ext cx="81724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837"/>
              </a:lnSpc>
              <a:buFont typeface="Arial"/>
              <a:buChar char="•"/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Requirements: Captures business needs with testable criteria.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58350" y="6598425"/>
            <a:ext cx="81724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837"/>
              </a:lnSpc>
              <a:buFont typeface="Arial"/>
              <a:buChar char="•"/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Architecture: Designs scalable structures and tech stacks.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58350" y="7055625"/>
            <a:ext cx="81724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2837"/>
              </a:lnSpc>
              <a:buFont typeface="Arial"/>
              <a:buChar char="•"/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Code: Optimizes production-ready code in 20+ languages.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44050" y="8099727"/>
            <a:ext cx="80581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Strategic Advantage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44050" y="8556927"/>
            <a:ext cx="80581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Access a full department of specialists on demand, eliminating the overhead of hiring and onboarding for niche technical roles.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1500" y="619125"/>
            <a:ext cx="17145000" cy="51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3600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Quality Guaranteed: The Validator Team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1500" y="2406920"/>
            <a:ext cx="1010411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Validation Performance Across Pillars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71500" y="3111770"/>
            <a:ext cx="10101262" cy="5429250"/>
            <a:chOff x="0" y="0"/>
            <a:chExt cx="13468350" cy="7239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346835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3468350">
                  <a:moveTo>
                    <a:pt x="0" y="0"/>
                  </a:moveTo>
                  <a:lnTo>
                    <a:pt x="13468350" y="0"/>
                  </a:lnTo>
                  <a:lnTo>
                    <a:pt x="1346835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1" r="0" b="-13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1500" y="8626745"/>
            <a:ext cx="1010411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Source: RStack Internal Validation Ledger (evidence.jsonl)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32810" y="1825895"/>
            <a:ext cx="6583632" cy="2457450"/>
            <a:chOff x="0" y="0"/>
            <a:chExt cx="8778176" cy="3276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78240" cy="3276600"/>
            </a:xfrm>
            <a:custGeom>
              <a:avLst/>
              <a:gdLst/>
              <a:ahLst/>
              <a:cxnLst/>
              <a:rect r="r" b="b" t="t" l="l"/>
              <a:pathLst>
                <a:path h="32766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132810" y="1825895"/>
            <a:ext cx="57150" cy="2457450"/>
            <a:chOff x="0" y="0"/>
            <a:chExt cx="76200" cy="3276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3276600"/>
            </a:xfrm>
            <a:custGeom>
              <a:avLst/>
              <a:gdLst/>
              <a:ahLst/>
              <a:cxnLst/>
              <a:rect r="r" b="b" t="t" l="l"/>
              <a:pathLst>
                <a:path h="3276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75710" y="2149745"/>
            <a:ext cx="589783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Rigorous Pipeline Checks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75710" y="2692670"/>
            <a:ext cx="589783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Every task in the 15-stage pipeline receives an </a:t>
            </a:r>
            <a:r>
              <a:rPr lang="en-US" sz="2100" b="true">
                <a:solidFill>
                  <a:srgbClr val="484F6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evidence-based verdict</a:t>
            </a: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. No deliverable proceeds without a PASS status.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32810" y="4607195"/>
            <a:ext cx="658363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Security &amp; Compliance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75710" y="5150120"/>
            <a:ext cx="624073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Automated secret scanning (4 regex groups)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75710" y="5664470"/>
            <a:ext cx="624073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Prompt injection detection (6 patterns)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75710" y="6178820"/>
            <a:ext cx="624073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GDPR, HIPAA, and SOC 2 gap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75710" y="6693170"/>
            <a:ext cx="624073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HMAC-SHA256 integrity checks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132810" y="7483745"/>
            <a:ext cx="6583632" cy="2057400"/>
            <a:chOff x="0" y="0"/>
            <a:chExt cx="8778176" cy="274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0" cy="2743200"/>
            </a:xfrm>
            <a:custGeom>
              <a:avLst/>
              <a:gdLst/>
              <a:ahLst/>
              <a:cxnLst/>
              <a:rect r="r" b="b" t="t" l="l"/>
              <a:pathLst>
                <a:path h="27432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132810" y="7483745"/>
            <a:ext cx="57150" cy="2057400"/>
            <a:chOff x="0" y="0"/>
            <a:chExt cx="76200" cy="2743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475710" y="7807595"/>
            <a:ext cx="589783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Full Traceability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75710" y="8350520"/>
            <a:ext cx="589783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The </a:t>
            </a:r>
            <a:r>
              <a:rPr lang="en-US" sz="2100" b="true">
                <a:solidFill>
                  <a:srgbClr val="484F6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append-only ledger</a:t>
            </a: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 ensures every decision, test result, and approval is immutable and traceable.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738456"/>
            <a:chOff x="0" y="0"/>
            <a:chExt cx="24384000" cy="14317942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4317980"/>
            </a:xfrm>
            <a:custGeom>
              <a:avLst/>
              <a:gdLst/>
              <a:ahLst/>
              <a:cxnLst/>
              <a:rect r="r" b="b" t="t" l="l"/>
              <a:pathLst>
                <a:path h="143179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317980"/>
                  </a:lnTo>
                  <a:lnTo>
                    <a:pt x="0" y="14317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1500" y="619125"/>
            <a:ext cx="17145000" cy="51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3600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Safety &amp; Guardrails: Secure &amp; Controlled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71500" y="1651606"/>
            <a:ext cx="8343900" cy="2057400"/>
            <a:chOff x="0" y="0"/>
            <a:chExt cx="11125200" cy="274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25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71500" y="1651606"/>
            <a:ext cx="57150" cy="2057400"/>
            <a:chOff x="0" y="0"/>
            <a:chExt cx="76200" cy="274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1975456"/>
            <a:ext cx="76581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Built-in Protection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2518381"/>
            <a:ext cx="76581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RStack implements real-time lifecycle hooks to block destructive commands and protect sensitive data without manual intervention.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1500" y="4032856"/>
            <a:ext cx="83439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Four Safety Pillars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575781"/>
            <a:ext cx="80010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b="true" sz="2100">
                <a:solidFill>
                  <a:srgbClr val="121211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Protected Actions:</a:t>
            </a: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 Blocks destructive commands like `rm -rf` or `DROP TABLE`.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5490181"/>
            <a:ext cx="8001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b="true" sz="2100">
                <a:solidFill>
                  <a:srgbClr val="121211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Data Protection:</a:t>
            </a: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 Prevents writing to `.env` or leaking API keys.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6004531"/>
            <a:ext cx="80010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b="true" sz="2100">
                <a:solidFill>
                  <a:srgbClr val="121211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Approval Workflows:</a:t>
            </a: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 Human oversight for critical gates and releases.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6918931"/>
            <a:ext cx="80010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b="true" sz="2100">
                <a:solidFill>
                  <a:srgbClr val="121211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Full Traceability:</a:t>
            </a: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 21 tracked event types with HMAC-SHA256 signatures.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71500" y="8109556"/>
            <a:ext cx="8343900" cy="2057400"/>
            <a:chOff x="0" y="0"/>
            <a:chExt cx="1112520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25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71500" y="8109556"/>
            <a:ext cx="57150" cy="2057400"/>
            <a:chOff x="0" y="0"/>
            <a:chExt cx="76200" cy="274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8433406"/>
            <a:ext cx="76581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Audit Readiness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8976331"/>
            <a:ext cx="76581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Every action is logged in an immutable evidence ledger, ensuring compliance with GDPR, HIPAA, and SOC 2.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72600" y="2918422"/>
            <a:ext cx="83439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Security Guardrail Effectiveness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72600" y="3623272"/>
            <a:ext cx="8343900" cy="4857750"/>
            <a:chOff x="0" y="0"/>
            <a:chExt cx="11125200" cy="64770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1125200" cy="6477000"/>
            </a:xfrm>
            <a:custGeom>
              <a:avLst/>
              <a:gdLst/>
              <a:ahLst/>
              <a:cxnLst/>
              <a:rect r="r" b="b" t="t" l="l"/>
              <a:pathLst>
                <a:path h="64770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7" r="0" b="-147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372600" y="8566747"/>
            <a:ext cx="83439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Detection and prevention rates across core security modules.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2900" y="390525"/>
            <a:ext cx="17602200" cy="51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3600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Flexible &amp; Scalable: Built for Extensibility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2900" y="2076860"/>
            <a:ext cx="86296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RStack Ecosystem Growth (v1.0.0 - v1.0.2)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42900" y="3454622"/>
            <a:ext cx="8629650" cy="4572000"/>
            <a:chOff x="0" y="0"/>
            <a:chExt cx="11506200" cy="609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15062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1506200">
                  <a:moveTo>
                    <a:pt x="0" y="0"/>
                  </a:moveTo>
                  <a:lnTo>
                    <a:pt x="11506200" y="0"/>
                  </a:lnTo>
                  <a:lnTo>
                    <a:pt x="115062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" r="0" b="-15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42900" y="8842400"/>
            <a:ext cx="86296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Source: RStack SDLC Version History &amp; Repository Metrics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15450" y="1838735"/>
            <a:ext cx="8629650" cy="1600200"/>
            <a:chOff x="0" y="0"/>
            <a:chExt cx="11506200" cy="2133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062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11506200">
                  <a:moveTo>
                    <a:pt x="0" y="0"/>
                  </a:moveTo>
                  <a:lnTo>
                    <a:pt x="11506200" y="0"/>
                  </a:lnTo>
                  <a:lnTo>
                    <a:pt x="11506200" y="2133600"/>
                  </a:lnTo>
                  <a:lnTo>
                    <a:pt x="0" y="21336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15450" y="1838735"/>
            <a:ext cx="57150" cy="1600200"/>
            <a:chOff x="0" y="0"/>
            <a:chExt cx="76200" cy="2133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133600"/>
                  </a:lnTo>
                  <a:lnTo>
                    <a:pt x="0" y="21336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44050" y="2029235"/>
            <a:ext cx="81724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Adaptive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44050" y="2476910"/>
            <a:ext cx="81724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RStack is designed to grow with your business, offering multiple extensibility points to tailor the AI dream team to your specific needs.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86900" y="4369022"/>
            <a:ext cx="357188" cy="285750"/>
            <a:chOff x="0" y="0"/>
            <a:chExt cx="476250" cy="3810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958388" y="4254722"/>
            <a:ext cx="223956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Customizable Agents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86900" y="4740497"/>
            <a:ext cx="38862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Tailor 196 agents with custom prompts and skills per project.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887450" y="4369022"/>
            <a:ext cx="214312" cy="285750"/>
            <a:chOff x="0" y="0"/>
            <a:chExt cx="285750" cy="3810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8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00" r="0" b="-250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216062" y="4254722"/>
            <a:ext cx="150375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Plugin System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87450" y="4740497"/>
            <a:ext cx="38862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72 plugin packs ready to integrate new frameworks instantly.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86900" y="5940638"/>
            <a:ext cx="285750" cy="285750"/>
            <a:chOff x="0" y="0"/>
            <a:chExt cx="381000" cy="3810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00" r="0" b="-250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886950" y="5826338"/>
            <a:ext cx="186094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Episodic Memory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86900" y="6312113"/>
            <a:ext cx="38862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Learns from past runs to make future builds smarter.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887450" y="5940638"/>
            <a:ext cx="321469" cy="285750"/>
            <a:chOff x="0" y="0"/>
            <a:chExt cx="428625" cy="3810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428625" cy="381000"/>
            </a:xfrm>
            <a:custGeom>
              <a:avLst/>
              <a:gdLst/>
              <a:ahLst/>
              <a:cxnLst/>
              <a:rect r="r" b="b" t="t" l="l"/>
              <a:pathLst>
                <a:path h="381000" w="428625">
                  <a:moveTo>
                    <a:pt x="0" y="0"/>
                  </a:moveTo>
                  <a:lnTo>
                    <a:pt x="428625" y="0"/>
                  </a:lnTo>
                  <a:lnTo>
                    <a:pt x="42862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250" r="0" b="-125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323219" y="5826338"/>
            <a:ext cx="167163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Local Overrides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87450" y="6312113"/>
            <a:ext cx="38862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Adapt behavior for individual repos without core changes.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15450" y="7813700"/>
            <a:ext cx="8629650" cy="1600200"/>
            <a:chOff x="0" y="0"/>
            <a:chExt cx="11506200" cy="2133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5062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11506200">
                  <a:moveTo>
                    <a:pt x="0" y="0"/>
                  </a:moveTo>
                  <a:lnTo>
                    <a:pt x="11506200" y="0"/>
                  </a:lnTo>
                  <a:lnTo>
                    <a:pt x="11506200" y="2133600"/>
                  </a:lnTo>
                  <a:lnTo>
                    <a:pt x="0" y="21336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15450" y="7813700"/>
            <a:ext cx="57150" cy="1600200"/>
            <a:chOff x="0" y="0"/>
            <a:chExt cx="76200" cy="2133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2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133600"/>
                  </a:lnTo>
                  <a:lnTo>
                    <a:pt x="0" y="21336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544050" y="7985150"/>
            <a:ext cx="81724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Strategic Implication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544050" y="8451875"/>
            <a:ext cx="81724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RStack scales effortlessly from rapid prototyping in Express mode to enterprise-grade multi-team delivery.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338406"/>
            <a:chOff x="0" y="0"/>
            <a:chExt cx="24384000" cy="13784542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84580"/>
            </a:xfrm>
            <a:custGeom>
              <a:avLst/>
              <a:gdLst/>
              <a:ahLst/>
              <a:cxnLst/>
              <a:rect r="r" b="b" t="t" l="l"/>
              <a:pathLst>
                <a:path h="137845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84580"/>
                  </a:lnTo>
                  <a:lnTo>
                    <a:pt x="0" y="13784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1500" y="619125"/>
            <a:ext cx="17145000" cy="51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3600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Business Impact: Delivering Value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1500" y="2432656"/>
            <a:ext cx="1010411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Projected Efficiency Gains with RStack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71500" y="3137506"/>
            <a:ext cx="10101262" cy="5429250"/>
            <a:chOff x="0" y="0"/>
            <a:chExt cx="13468350" cy="7239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346835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3468350">
                  <a:moveTo>
                    <a:pt x="0" y="0"/>
                  </a:moveTo>
                  <a:lnTo>
                    <a:pt x="13468350" y="0"/>
                  </a:lnTo>
                  <a:lnTo>
                    <a:pt x="1346835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1" r="0" b="-13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1500" y="8652481"/>
            <a:ext cx="1010411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Estimated improvements based on 15-stage automated pipeline benchmarks.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32810" y="1651606"/>
            <a:ext cx="6583632" cy="2457450"/>
            <a:chOff x="0" y="0"/>
            <a:chExt cx="8778176" cy="3276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78240" cy="3276600"/>
            </a:xfrm>
            <a:custGeom>
              <a:avLst/>
              <a:gdLst/>
              <a:ahLst/>
              <a:cxnLst/>
              <a:rect r="r" b="b" t="t" l="l"/>
              <a:pathLst>
                <a:path h="32766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132810" y="1651606"/>
            <a:ext cx="57150" cy="2457450"/>
            <a:chOff x="0" y="0"/>
            <a:chExt cx="76200" cy="3276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3276600"/>
            </a:xfrm>
            <a:custGeom>
              <a:avLst/>
              <a:gdLst/>
              <a:ahLst/>
              <a:cxnLst/>
              <a:rect r="r" b="b" t="t" l="l"/>
              <a:pathLst>
                <a:path h="3276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75710" y="1975456"/>
            <a:ext cx="589783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Accelerated Delivery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75710" y="2518381"/>
            <a:ext cx="589783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Automated pipelines eliminate manual handoff delays, resulting in up to </a:t>
            </a:r>
            <a:r>
              <a:rPr lang="en-US" sz="2100" b="true">
                <a:solidFill>
                  <a:srgbClr val="484F6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70% faster</a:t>
            </a: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 time-to-market for new features.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32810" y="4432906"/>
            <a:ext cx="658363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Quantifiable Benefits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75710" y="4975831"/>
            <a:ext cx="624073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Significant reduction in manual labor costs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75710" y="5490181"/>
            <a:ext cx="624073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Enhanced product quality via dual-agent verification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75710" y="6004531"/>
            <a:ext cx="624073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Increased innovation through automated boilerplate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75710" y="6518881"/>
            <a:ext cx="624073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2822"/>
              </a:lnSpc>
              <a:buFont typeface="Arial"/>
              <a:buChar char="•"/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Predictable outcomes with real-time cost tracking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132810" y="7309456"/>
            <a:ext cx="6583632" cy="2457450"/>
            <a:chOff x="0" y="0"/>
            <a:chExt cx="8778176" cy="3276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0" cy="3276600"/>
            </a:xfrm>
            <a:custGeom>
              <a:avLst/>
              <a:gdLst/>
              <a:ahLst/>
              <a:cxnLst/>
              <a:rect r="r" b="b" t="t" l="l"/>
              <a:pathLst>
                <a:path h="32766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132810" y="7309456"/>
            <a:ext cx="57150" cy="2457450"/>
            <a:chOff x="0" y="0"/>
            <a:chExt cx="76200" cy="3276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200" cy="3276600"/>
            </a:xfrm>
            <a:custGeom>
              <a:avLst/>
              <a:gdLst/>
              <a:ahLst/>
              <a:cxnLst/>
              <a:rect r="r" b="b" t="t" l="l"/>
              <a:pathLst>
                <a:path h="3276600" w="76200">
                  <a:moveTo>
                    <a:pt x="0" y="0"/>
                  </a:moveTo>
                  <a:lnTo>
                    <a:pt x="76200" y="0"/>
                  </a:lnTo>
                  <a:lnTo>
                    <a:pt x="76200" y="3276600"/>
                  </a:lnTo>
                  <a:lnTo>
                    <a:pt x="0" y="32766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475710" y="7633306"/>
            <a:ext cx="589783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Cost Optimization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75710" y="8176231"/>
            <a:ext cx="589783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AI agents work 24/7 at a fraction of human resource costs, driving an estimated </a:t>
            </a:r>
            <a:r>
              <a:rPr lang="en-US" sz="2100" b="true">
                <a:solidFill>
                  <a:srgbClr val="484F6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60% reduction</a:t>
            </a:r>
            <a:r>
              <a:rPr lang="en-US" sz="21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 in development expenses.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7200" y="504825"/>
            <a:ext cx="17373600" cy="51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3600" b="true">
                <a:solidFill>
                  <a:srgbClr val="484F6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Road Ahead: The Future of Development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7200" y="2048285"/>
            <a:ext cx="85153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4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RStack Evolution Roadmap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57200" y="3340322"/>
            <a:ext cx="7858125" cy="4857750"/>
            <a:chOff x="0" y="0"/>
            <a:chExt cx="10477500" cy="6477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477500" cy="6477000"/>
            </a:xfrm>
            <a:custGeom>
              <a:avLst/>
              <a:gdLst/>
              <a:ahLst/>
              <a:cxnLst/>
              <a:rect r="r" b="b" t="t" l="l"/>
              <a:pathLst>
                <a:path h="6477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7" r="0" b="-14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57200" y="8870975"/>
            <a:ext cx="85153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5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Vision for AI-Driven Software Creation (2026-2028)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15450" y="1694183"/>
            <a:ext cx="8515350" cy="1714500"/>
            <a:chOff x="0" y="0"/>
            <a:chExt cx="1135380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53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15450" y="1694183"/>
            <a:ext cx="57150" cy="1714500"/>
            <a:chOff x="0" y="0"/>
            <a:chExt cx="762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44050" y="1884683"/>
            <a:ext cx="80581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Our Vision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44050" y="2322833"/>
            <a:ext cx="80581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7"/>
              </a:lnSpc>
            </a:pPr>
            <a:r>
              <a:rPr lang="en-US" sz="19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We are shaping a future where human creativity is amplified by 196 AI specialists, turning vision into reality with unprecedented speed and precision.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15450" y="3851319"/>
            <a:ext cx="8515350" cy="1485900"/>
            <a:chOff x="0" y="0"/>
            <a:chExt cx="11353800" cy="198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538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484F6F">
                <a:alpha val="784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15450" y="3851319"/>
            <a:ext cx="57150" cy="1485900"/>
            <a:chOff x="0" y="0"/>
            <a:chExt cx="76200" cy="198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484F6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486900" y="4079919"/>
            <a:ext cx="285750" cy="285750"/>
            <a:chOff x="0" y="0"/>
            <a:chExt cx="381000" cy="3810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886950" y="3984669"/>
            <a:ext cx="260746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Continuous Evolution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6900" y="4432344"/>
            <a:ext cx="81724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Every run improves organizational memory through episodic learning, making future builds smarter and more efficient.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15450" y="5779856"/>
            <a:ext cx="8515350" cy="1485900"/>
            <a:chOff x="0" y="0"/>
            <a:chExt cx="11353800" cy="198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538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939CBD">
                <a:alpha val="784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15450" y="5779856"/>
            <a:ext cx="57150" cy="1485900"/>
            <a:chOff x="0" y="0"/>
            <a:chExt cx="76200" cy="198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939CB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86900" y="6008456"/>
            <a:ext cx="357188" cy="285750"/>
            <a:chOff x="0" y="0"/>
            <a:chExt cx="476250" cy="3810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500" r="0" b="-250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958388" y="5913206"/>
            <a:ext cx="257889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Expanding Ecosystem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86900" y="6360881"/>
            <a:ext cx="81724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Deepening integrations with GitHub, Jira, Slack, and major cloud providers to create a seamless, automated toolchain.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15450" y="7708382"/>
            <a:ext cx="8515350" cy="1850231"/>
            <a:chOff x="0" y="0"/>
            <a:chExt cx="11353800" cy="24669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53800" cy="2466975"/>
            </a:xfrm>
            <a:custGeom>
              <a:avLst/>
              <a:gdLst/>
              <a:ahLst/>
              <a:cxnLst/>
              <a:rect r="r" b="b" t="t" l="l"/>
              <a:pathLst>
                <a:path h="2466975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2466975"/>
                  </a:lnTo>
                  <a:lnTo>
                    <a:pt x="0" y="2466975"/>
                  </a:lnTo>
                  <a:close/>
                </a:path>
              </a:pathLst>
            </a:custGeom>
            <a:solidFill>
              <a:srgbClr val="D6AE7E">
                <a:alpha val="784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15450" y="7708382"/>
            <a:ext cx="57150" cy="1850231"/>
            <a:chOff x="0" y="0"/>
            <a:chExt cx="76200" cy="24669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200" cy="2466975"/>
            </a:xfrm>
            <a:custGeom>
              <a:avLst/>
              <a:gdLst/>
              <a:ahLst/>
              <a:cxnLst/>
              <a:rect r="r" b="b" t="t" l="l"/>
              <a:pathLst>
                <a:path h="2466975" w="76200">
                  <a:moveTo>
                    <a:pt x="0" y="0"/>
                  </a:moveTo>
                  <a:lnTo>
                    <a:pt x="76200" y="0"/>
                  </a:lnTo>
                  <a:lnTo>
                    <a:pt x="76200" y="2466975"/>
                  </a:lnTo>
                  <a:lnTo>
                    <a:pt x="0" y="2466975"/>
                  </a:lnTo>
                  <a:close/>
                </a:path>
              </a:pathLst>
            </a:custGeom>
            <a:solidFill>
              <a:srgbClr val="D6AE7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86900" y="7936982"/>
            <a:ext cx="285750" cy="285750"/>
            <a:chOff x="0" y="0"/>
            <a:chExt cx="381000" cy="38100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00" r="0" b="-250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886950" y="7841732"/>
            <a:ext cx="163234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Call to Action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86900" y="8310839"/>
            <a:ext cx="689372" cy="34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600" b="true">
                <a:solidFill>
                  <a:srgbClr val="121211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Install: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26278" y="8333461"/>
            <a:ext cx="342956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121211"/>
                </a:solidFill>
                <a:latin typeface="Arimo"/>
                <a:ea typeface="Arimo"/>
                <a:cs typeface="Arimo"/>
                <a:sym typeface="Arimo"/>
              </a:rPr>
              <a:t>npm install rstack-agents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86900" y="8664454"/>
            <a:ext cx="1132284" cy="34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600" b="true">
                <a:solidFill>
                  <a:srgbClr val="121211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Repository: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69191" y="8687076"/>
            <a:ext cx="507574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121211"/>
                </a:solidFill>
                <a:latin typeface="Arimo"/>
                <a:ea typeface="Arimo"/>
                <a:cs typeface="Arimo"/>
                <a:sym typeface="Arimo"/>
              </a:rPr>
              <a:t>github.com/richard-devbot/SDLC-rstack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86900" y="9018070"/>
            <a:ext cx="814388" cy="34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600" b="true">
                <a:solidFill>
                  <a:srgbClr val="121211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Contact: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01288" y="9018070"/>
            <a:ext cx="3629025" cy="34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121211"/>
                </a:solidFill>
                <a:latin typeface="Crimson Pro"/>
                <a:ea typeface="Crimson Pro"/>
                <a:cs typeface="Crimson Pro"/>
                <a:sym typeface="Crimson Pro"/>
              </a:rPr>
              <a:t>Richardson Gunde, Evoke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DAHK6oeb3m8</dc:identifier>
  <dcterms:modified xsi:type="dcterms:W3CDTF">2011-08-01T06:04:30Z</dcterms:modified>
  <cp:revision>1</cp:revision>
  <dc:title>RStack:The Futureof Software Development</dc:title>
</cp:coreProperties>
</file>